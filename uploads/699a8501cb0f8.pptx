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7" r:id="rId2"/>
    <p:sldId id="271" r:id="rId3"/>
    <p:sldId id="292" r:id="rId4"/>
    <p:sldId id="293" r:id="rId5"/>
    <p:sldId id="297" r:id="rId6"/>
    <p:sldId id="282" r:id="rId7"/>
    <p:sldId id="298" r:id="rId8"/>
    <p:sldId id="283" r:id="rId9"/>
    <p:sldId id="299" r:id="rId10"/>
    <p:sldId id="290" r:id="rId11"/>
    <p:sldId id="291" r:id="rId12"/>
    <p:sldId id="294" r:id="rId13"/>
    <p:sldId id="295" r:id="rId14"/>
    <p:sldId id="300" r:id="rId15"/>
    <p:sldId id="301" r:id="rId16"/>
    <p:sldId id="302" r:id="rId17"/>
    <p:sldId id="303" r:id="rId18"/>
    <p:sldId id="288" r:id="rId19"/>
    <p:sldId id="266" r:id="rId2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8E"/>
    <a:srgbClr val="800000"/>
    <a:srgbClr val="800E0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6" autoAdjust="0"/>
    <p:restoredTop sz="94660"/>
  </p:normalViewPr>
  <p:slideViewPr>
    <p:cSldViewPr>
      <p:cViewPr varScale="1">
        <p:scale>
          <a:sx n="78" d="100"/>
          <a:sy n="78" d="100"/>
        </p:scale>
        <p:origin x="157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F2B7A-B982-4C5F-AB23-A3363D7E5ABB}" type="datetimeFigureOut">
              <a:rPr lang="es-CO" smtClean="0"/>
              <a:t>10/02/2026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E82F5E-3F12-4E1A-A469-6FDFCB54A93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136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5" name="Freeform 11"/>
          <p:cNvSpPr/>
          <p:nvPr/>
        </p:nvSpPr>
        <p:spPr>
          <a:xfrm>
            <a:off x="-11907" y="1"/>
            <a:ext cx="8762858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Freeform 13"/>
          <p:cNvSpPr/>
          <p:nvPr/>
        </p:nvSpPr>
        <p:spPr>
          <a:xfrm>
            <a:off x="0" y="4282258"/>
            <a:ext cx="8496943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Freeform 25"/>
          <p:cNvSpPr/>
          <p:nvPr/>
        </p:nvSpPr>
        <p:spPr>
          <a:xfrm>
            <a:off x="1" y="1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Freeform 14"/>
          <p:cNvSpPr/>
          <p:nvPr/>
        </p:nvSpPr>
        <p:spPr>
          <a:xfrm rot="21420000">
            <a:off x="-121444" y="293688"/>
            <a:ext cx="8524875" cy="5751512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5-Point Star 24"/>
          <p:cNvSpPr/>
          <p:nvPr/>
        </p:nvSpPr>
        <p:spPr>
          <a:xfrm rot="21420000">
            <a:off x="3165873" y="5111750"/>
            <a:ext cx="386953" cy="514350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668401" y="662656"/>
            <a:ext cx="7316390" cy="2766528"/>
          </a:xfrm>
        </p:spPr>
        <p:txBody>
          <a:bodyPr anchor="b"/>
          <a:lstStyle>
            <a:lvl1pPr algn="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737297" y="3505210"/>
            <a:ext cx="731639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711179" y="4578350"/>
            <a:ext cx="4607719" cy="1163638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C0AE956B-7594-4E46-9C41-CCC36BBF6B61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4762" y="4883150"/>
            <a:ext cx="3036094" cy="1195388"/>
          </a:xfrm>
        </p:spPr>
        <p:txBody>
          <a:bodyPr/>
          <a:lstStyle>
            <a:lvl1pPr algn="r">
              <a:defRPr lang="en-US" sz="5400" dirty="0"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389019" y="3832226"/>
            <a:ext cx="679847" cy="498475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32C21C2A-1E4B-42C5-BE6D-A14D2BD31741}" type="slidenum">
              <a:rPr lang="es-CO">
                <a:solidFill>
                  <a:prstClr val="black">
                    <a:lumMod val="75000"/>
                    <a:lumOff val="25000"/>
                  </a:prst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524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DA317-393E-4F63-9A34-952BA69F8C25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22E96-18F5-4724-B234-AAEF6762ADE1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996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0F4B3-D9EF-41BA-906A-52CF4E9C50BC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9D0C27-EE2E-4535-9005-14BCF4B1E894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50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531263-824E-4D2E-861C-8882CAA55AFF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EE3E1C-3CD6-45BC-B1C9-8ED524B9FD99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05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8767" y="2063396"/>
            <a:ext cx="3642119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644" y="2063396"/>
            <a:ext cx="364836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1D98D-E9EE-4D3E-A5C2-341CE9BCE159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DCDC6-FF5D-4A5C-9A1B-93DE1FB8F047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823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2862D6-8AB2-4D11-991A-26D12841E938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DF23A7-B634-4A6D-94C3-C7272BE1FF04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675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F23F05-EDDE-47FF-9BA0-F03B212ADE1F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FD9C05-A129-4E91-A5DC-B6BBA677410F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14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/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06ED8E-FC54-4C43-99D9-5F5CDED545AA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FF1B2-AFB8-4A31-8103-AD3A81BB73C0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026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85800"/>
            <a:ext cx="4758977" cy="2023252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11771" y="1"/>
            <a:ext cx="2698610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dirty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758976" cy="2362481"/>
          </a:xfrm>
        </p:spPr>
        <p:txBody>
          <a:bodyPr anchor="t"/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555A0-D87D-4460-B263-D0C403713AC8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7A7B8B-DF89-466D-B173-C70DE820CA8A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64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dirty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A71284-86F5-4FC9-998D-CE06E53D7CE5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F4FD20-32D0-4D53-9E01-D32DCE8F3539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975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940C9-1071-42B9-ABDB-0134EDCE37C5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6B9D4F-DE8A-44E2-B006-3AC06F0A6F01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014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2"/>
          <p:cNvSpPr txBox="1"/>
          <p:nvPr/>
        </p:nvSpPr>
        <p:spPr>
          <a:xfrm>
            <a:off x="514350" y="892175"/>
            <a:ext cx="457200" cy="585788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8000" dirty="0">
                <a:solidFill>
                  <a:prstClr val="black"/>
                </a:solidFill>
                <a:effectLst/>
                <a:cs typeface="Arial" charset="0"/>
              </a:rPr>
              <a:t>“</a:t>
            </a:r>
          </a:p>
        </p:txBody>
      </p:sp>
      <p:sp>
        <p:nvSpPr>
          <p:cNvPr id="6" name="TextBox 13"/>
          <p:cNvSpPr txBox="1"/>
          <p:nvPr/>
        </p:nvSpPr>
        <p:spPr>
          <a:xfrm>
            <a:off x="7854554" y="2922589"/>
            <a:ext cx="457200" cy="585787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>
              <a:defRPr/>
            </a:pPr>
            <a:r>
              <a:rPr lang="en-US" sz="8000" dirty="0">
                <a:solidFill>
                  <a:prstClr val="black"/>
                </a:solidFill>
                <a:effectLst/>
                <a:cs typeface="Arial" charset="0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/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4E9AC9-E621-4F01-9B30-13DCC40E3C58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E1D3C-8BD2-4104-8CEC-A75CC939F014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369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/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9C74B7-2CB4-4BC3-B3AC-4E4B2C0EFE81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62E4A-EC5A-4C62-84EB-A95C02639A8D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662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E0B558-EC9E-4BD0-9FB0-5B9B91C4B6CF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B592A-DA5B-4647-AD23-722731DE99CD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748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0" dirty="0"/>
              <a:t>Haga clic en el icono para agregar una imagen</a:t>
            </a:r>
            <a:endParaRPr lang="en-US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0" dirty="0"/>
              <a:t>Haga clic en el icono para agregar una imagen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9" y="4389286"/>
            <a:ext cx="2482596" cy="985300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0" dirty="0"/>
              <a:t>Haga clic en el icono para agregar una imagen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E83AF-5351-46A6-9873-D06D9E7ED0DC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5262F1-8F92-4A6E-B2C5-B755B893EE06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906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7BF5F-75B3-4783-AB45-FD00A97A75BB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99B61-13AF-4A8D-BE10-68C7ED4B67D9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7943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5940F4-D2ED-4D82-8BDA-BF1A504F8F83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7FDDF-7045-48AF-A79D-C335BDF501A8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965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7" name="Group 9"/>
          <p:cNvGrpSpPr>
            <a:grpSpLocks/>
          </p:cNvGrpSpPr>
          <p:nvPr/>
        </p:nvGrpSpPr>
        <p:grpSpPr bwMode="auto">
          <a:xfrm>
            <a:off x="-19050" y="0"/>
            <a:ext cx="9003506" cy="6643688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562" cy="6420230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0" y="685801"/>
            <a:ext cx="7797404" cy="1152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2063750"/>
            <a:ext cx="7797404" cy="331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304" y="5757864"/>
            <a:ext cx="2838450" cy="498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3200" cap="all" baseline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F82A8BF-719E-46BA-9E0F-9071C6F3DF9C}" type="datetimeFigureOut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10/02/2026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5757864"/>
            <a:ext cx="4124325" cy="498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3200" cap="all" baseline="0" dirty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>
              <a:solidFill>
                <a:srgbClr val="B80E0F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4875" y="5757864"/>
            <a:ext cx="681038" cy="498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3200" cap="all" baseline="0">
                <a:solidFill>
                  <a:schemeClr val="accent1">
                    <a:lumMod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8DA38B7-19FD-4C0A-A22E-CF657F80A37F}" type="slidenum">
              <a:rPr lang="es-CO">
                <a:solidFill>
                  <a:srgbClr val="B80E0F">
                    <a:lumMod val="50000"/>
                  </a:srgbClr>
                </a:solidFill>
              </a:rPr>
              <a:pPr>
                <a:defRPr/>
              </a:pPr>
              <a:t>‹Nº›</a:t>
            </a:fld>
            <a:endParaRPr lang="es-CO" dirty="0">
              <a:solidFill>
                <a:srgbClr val="B80E0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19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400" kern="1200" cap="all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Impac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Impac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Impac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Impac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Impac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Impac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Impac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5400">
          <a:solidFill>
            <a:schemeClr val="accent1"/>
          </a:solidFill>
          <a:latin typeface="Impact" pitchFamily="34" charset="0"/>
        </a:defRPr>
      </a:lvl9pPr>
    </p:titleStyle>
    <p:bodyStyle>
      <a:lvl1pPr marL="228600" indent="-228600" algn="l" rtl="0" eaLnBrk="0" fontAlgn="base" hangingPunct="0">
        <a:lnSpc>
          <a:spcPct val="120000"/>
        </a:lnSpc>
        <a:spcBef>
          <a:spcPts val="1000"/>
        </a:spcBef>
        <a:spcAft>
          <a:spcPct val="0"/>
        </a:spcAft>
        <a:buClr>
          <a:schemeClr val="accent1"/>
        </a:buClr>
        <a:buSzPct val="160000"/>
        <a:buFont typeface="Arial" charset="0"/>
        <a:buChar char="•"/>
        <a:defRPr sz="2000" kern="1200" cap="all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60000"/>
        <a:buFont typeface="Arial" charset="0"/>
        <a:buChar char="•"/>
        <a:defRPr sz="2800" kern="1200" cap="all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60000"/>
        <a:buFont typeface="Arial" charset="0"/>
        <a:buChar char="•"/>
        <a:defRPr sz="1600" kern="1200" cap="all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60000"/>
        <a:buFont typeface="Arial" charset="0"/>
        <a:buChar char="•"/>
        <a:defRPr sz="1400" kern="1200" cap="all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60000"/>
        <a:buFont typeface="Arial" charset="0"/>
        <a:buChar char="•"/>
        <a:defRPr sz="1400" kern="1200" cap="all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jpe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547664" y="4280489"/>
            <a:ext cx="676875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 err="1">
                <a:solidFill>
                  <a:srgbClr val="800000"/>
                </a:solidFill>
                <a:latin typeface="Calibri" panose="020F0502020204030204" pitchFamily="34" charset="0"/>
              </a:rPr>
              <a:t>Maggiber</a:t>
            </a:r>
            <a:r>
              <a:rPr lang="es-CO" sz="2000" b="1" dirty="0">
                <a:solidFill>
                  <a:srgbClr val="800000"/>
                </a:solidFill>
                <a:latin typeface="Calibri" panose="020F0502020204030204" pitchFamily="34" charset="0"/>
              </a:rPr>
              <a:t> Hernández Plazas</a:t>
            </a:r>
          </a:p>
          <a:p>
            <a:r>
              <a:rPr lang="es-CO" sz="1500" b="1" dirty="0">
                <a:solidFill>
                  <a:srgbClr val="800000"/>
                </a:solidFill>
                <a:latin typeface="Calibri" panose="020F0502020204030204" pitchFamily="34" charset="0"/>
              </a:rPr>
              <a:t>Contador Público – Auditor Forense</a:t>
            </a:r>
            <a:endParaRPr lang="es-CO" sz="1500" b="1" dirty="0">
              <a:solidFill>
                <a:srgbClr val="800000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3298" y="1929839"/>
            <a:ext cx="7797404" cy="2042915"/>
          </a:xfrm>
        </p:spPr>
        <p:txBody>
          <a:bodyPr>
            <a:noAutofit/>
          </a:bodyPr>
          <a:lstStyle/>
          <a:p>
            <a:pPr algn="r"/>
            <a:r>
              <a:rPr lang="es-CO" sz="6000" b="1" dirty="0">
                <a:solidFill>
                  <a:srgbClr val="800E0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PRUEBA PERICIAL</a:t>
            </a:r>
            <a:br>
              <a:rPr lang="es-CO" sz="4000" b="1" dirty="0">
                <a:solidFill>
                  <a:srgbClr val="800E0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CO" sz="2400" b="1" cap="none" dirty="0">
                <a:solidFill>
                  <a:srgbClr val="800E0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SU RELACIÓN CON EL CONTRAINTERROGATORIO</a:t>
            </a:r>
            <a:r>
              <a:rPr lang="es-CO" sz="4000" b="1" dirty="0">
                <a:solidFill>
                  <a:srgbClr val="800E0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B837E33E-E7D1-713A-4876-E6E9222B8079}"/>
              </a:ext>
            </a:extLst>
          </p:cNvPr>
          <p:cNvGrpSpPr/>
          <p:nvPr/>
        </p:nvGrpSpPr>
        <p:grpSpPr>
          <a:xfrm>
            <a:off x="190077" y="5589240"/>
            <a:ext cx="8414371" cy="861954"/>
            <a:chOff x="190077" y="5589240"/>
            <a:chExt cx="8414371" cy="861954"/>
          </a:xfrm>
        </p:grpSpPr>
        <p:pic>
          <p:nvPicPr>
            <p:cNvPr id="15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86A66E2E-A821-5E97-7591-3EB800F3CE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973C8C4E-1896-DA07-F820-D5053A912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77CF2677-2801-BF4A-2E7B-98FAA70F8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1D20E9D2-DA9C-B08E-307D-E771558577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544" y="385971"/>
            <a:ext cx="1654782" cy="181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12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B837E33E-E7D1-713A-4876-E6E9222B8079}"/>
              </a:ext>
            </a:extLst>
          </p:cNvPr>
          <p:cNvGrpSpPr/>
          <p:nvPr/>
        </p:nvGrpSpPr>
        <p:grpSpPr>
          <a:xfrm>
            <a:off x="190077" y="5589240"/>
            <a:ext cx="8414371" cy="861954"/>
            <a:chOff x="190077" y="5589240"/>
            <a:chExt cx="8414371" cy="861954"/>
          </a:xfrm>
        </p:grpSpPr>
        <p:pic>
          <p:nvPicPr>
            <p:cNvPr id="15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86A66E2E-A821-5E97-7591-3EB800F3CE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973C8C4E-1896-DA07-F820-D5053A912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77CF2677-2801-BF4A-2E7B-98FAA70F8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1D20E9D2-DA9C-B08E-307D-E771558577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04" y="116632"/>
            <a:ext cx="1080120" cy="118724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0B9D572-84EB-51DB-EF47-5429E5A282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554" y="308717"/>
            <a:ext cx="3227962" cy="1346772"/>
          </a:xfrm>
          <a:prstGeom prst="rect">
            <a:avLst/>
          </a:prstGeom>
        </p:spPr>
      </p:pic>
      <p:sp>
        <p:nvSpPr>
          <p:cNvPr id="12" name="Subtítulo 2">
            <a:extLst>
              <a:ext uri="{FF2B5EF4-FFF2-40B4-BE49-F238E27FC236}">
                <a16:creationId xmlns:a16="http://schemas.microsoft.com/office/drawing/2014/main" id="{9F0E5E47-5F1A-4DC3-AB6A-6D51201EF8A1}"/>
              </a:ext>
            </a:extLst>
          </p:cNvPr>
          <p:cNvSpPr txBox="1">
            <a:spLocks/>
          </p:cNvSpPr>
          <p:nvPr/>
        </p:nvSpPr>
        <p:spPr>
          <a:xfrm>
            <a:off x="661258" y="2041649"/>
            <a:ext cx="7249794" cy="28995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160000"/>
              <a:buFont typeface="Arial" charset="0"/>
              <a:buChar char="•"/>
              <a:defRPr sz="2000" kern="1200" cap="all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60000"/>
              <a:buFont typeface="Arial" charset="0"/>
              <a:buChar char="•"/>
              <a:defRPr sz="2800" kern="1200" cap="all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60000"/>
              <a:buFont typeface="Arial" charset="0"/>
              <a:buChar char="•"/>
              <a:defRPr sz="1600" kern="1200" cap="all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60000"/>
              <a:buFont typeface="Arial" charset="0"/>
              <a:buChar char="•"/>
              <a:defRPr sz="1400" kern="1200" cap="all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60000"/>
              <a:buFont typeface="Arial" charset="0"/>
              <a:buChar char="•"/>
              <a:defRPr sz="1400" kern="1200" cap="all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1. Introducción</a:t>
            </a:r>
          </a:p>
          <a:p>
            <a:r>
              <a:rPr lang="es-MX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bibliografía</a:t>
            </a:r>
          </a:p>
          <a:p>
            <a:r>
              <a:rPr lang="es-MX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Revisión conceptual</a:t>
            </a:r>
          </a:p>
          <a:p>
            <a:r>
              <a:rPr lang="es-MX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PRUEBA PERICIAL</a:t>
            </a:r>
          </a:p>
          <a:p>
            <a:r>
              <a:rPr lang="es-MX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5. CONTRAINTERROGATORIO SOBRE PRUEBA PERICIAL – conceptos básicos</a:t>
            </a:r>
          </a:p>
          <a:p>
            <a:r>
              <a:rPr lang="es-MX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6. Conclusiones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D4953C3E-7430-4476-A68E-6C85E4DED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483" y="1106588"/>
            <a:ext cx="2581672" cy="618631"/>
          </a:xfr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s-MX" sz="3800" b="1" u="sng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Agenda</a:t>
            </a:r>
            <a:endParaRPr lang="es-CO" sz="3800" b="1" u="sng" dirty="0">
              <a:solidFill>
                <a:srgbClr val="8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16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B837E33E-E7D1-713A-4876-E6E9222B8079}"/>
              </a:ext>
            </a:extLst>
          </p:cNvPr>
          <p:cNvGrpSpPr/>
          <p:nvPr/>
        </p:nvGrpSpPr>
        <p:grpSpPr>
          <a:xfrm>
            <a:off x="190077" y="5589240"/>
            <a:ext cx="8414371" cy="861954"/>
            <a:chOff x="190077" y="5589240"/>
            <a:chExt cx="8414371" cy="861954"/>
          </a:xfrm>
        </p:grpSpPr>
        <p:pic>
          <p:nvPicPr>
            <p:cNvPr id="15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86A66E2E-A821-5E97-7591-3EB800F3CE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973C8C4E-1896-DA07-F820-D5053A912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77CF2677-2801-BF4A-2E7B-98FAA70F8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1D20E9D2-DA9C-B08E-307D-E771558577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04" y="116632"/>
            <a:ext cx="1080120" cy="118724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D4953C3E-7430-4476-A68E-6C85E4DED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916" y="1566161"/>
            <a:ext cx="4591147" cy="618631"/>
          </a:xfr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s-MX" sz="3800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1. introducción</a:t>
            </a:r>
            <a:endParaRPr lang="es-CO" sz="3800" dirty="0">
              <a:solidFill>
                <a:srgbClr val="8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5F5C7F3-247C-4264-9A15-B5C85D315EEB}"/>
              </a:ext>
            </a:extLst>
          </p:cNvPr>
          <p:cNvSpPr/>
          <p:nvPr/>
        </p:nvSpPr>
        <p:spPr>
          <a:xfrm>
            <a:off x="648986" y="2597180"/>
            <a:ext cx="723538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sz="200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¿Usted se ha puesto a pensar cuando cuales son las características o requisitos de las pruebas forenses que deberían acompañar su informe pericial y cuáles deberían ser las posibles preguntas que podrían generarse en una investigación judicial para acreditar el trabajo serio y riguroso de un buen perito?</a:t>
            </a:r>
          </a:p>
        </p:txBody>
      </p:sp>
    </p:spTree>
    <p:extLst>
      <p:ext uri="{BB962C8B-B14F-4D97-AF65-F5344CB8AC3E}">
        <p14:creationId xmlns:p14="http://schemas.microsoft.com/office/powerpoint/2010/main" val="2824031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B837E33E-E7D1-713A-4876-E6E9222B8079}"/>
              </a:ext>
            </a:extLst>
          </p:cNvPr>
          <p:cNvGrpSpPr/>
          <p:nvPr/>
        </p:nvGrpSpPr>
        <p:grpSpPr>
          <a:xfrm>
            <a:off x="190077" y="5589240"/>
            <a:ext cx="8414371" cy="861954"/>
            <a:chOff x="190077" y="5589240"/>
            <a:chExt cx="8414371" cy="861954"/>
          </a:xfrm>
        </p:grpSpPr>
        <p:pic>
          <p:nvPicPr>
            <p:cNvPr id="15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86A66E2E-A821-5E97-7591-3EB800F3CE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973C8C4E-1896-DA07-F820-D5053A912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77CF2677-2801-BF4A-2E7B-98FAA70F8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1D20E9D2-DA9C-B08E-307D-E771558577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04" y="116632"/>
            <a:ext cx="1080120" cy="118724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D4953C3E-7430-4476-A68E-6C85E4DED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3768" y="685241"/>
            <a:ext cx="4591147" cy="618631"/>
          </a:xfr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s-MX" sz="3800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2. BIBLIOGRAFÍA</a:t>
            </a:r>
            <a:endParaRPr lang="es-CO" sz="3800" dirty="0">
              <a:solidFill>
                <a:srgbClr val="8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B00D060-AEA4-4B9F-8C6B-AC3A6B1E5C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84" y="1996305"/>
            <a:ext cx="1877228" cy="264410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799ACC1-4349-4F2E-8FA5-8C8AD034EC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8364" y="2062439"/>
            <a:ext cx="2096585" cy="264410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5CB0A34-66EC-4EBC-AFFD-AB383183D0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6092" y="2062438"/>
            <a:ext cx="2151815" cy="257796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049D6D5-7D3C-4D08-A46F-9756230C9254}"/>
              </a:ext>
            </a:extLst>
          </p:cNvPr>
          <p:cNvSpPr txBox="1"/>
          <p:nvPr/>
        </p:nvSpPr>
        <p:spPr>
          <a:xfrm>
            <a:off x="2267744" y="4889847"/>
            <a:ext cx="2675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COLOMBIA</a:t>
            </a:r>
            <a:endParaRPr lang="es-CO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5C401E2-8E3E-40C5-A870-11C428287CAF}"/>
              </a:ext>
            </a:extLst>
          </p:cNvPr>
          <p:cNvSpPr txBox="1"/>
          <p:nvPr/>
        </p:nvSpPr>
        <p:spPr>
          <a:xfrm>
            <a:off x="6106119" y="4776743"/>
            <a:ext cx="26754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PUBLICADO EN REP. DOMINICANA</a:t>
            </a:r>
            <a:endParaRPr lang="es-CO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69DA838-9E3C-4172-BF55-F69305B085E8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1813699" y="4829129"/>
            <a:ext cx="454045" cy="260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8C960CD-37FA-4501-B463-356769BBE10B}"/>
              </a:ext>
            </a:extLst>
          </p:cNvPr>
          <p:cNvCxnSpPr>
            <a:endCxn id="4" idx="2"/>
          </p:cNvCxnSpPr>
          <p:nvPr/>
        </p:nvCxnSpPr>
        <p:spPr>
          <a:xfrm flipV="1">
            <a:off x="3779912" y="4640405"/>
            <a:ext cx="792088" cy="386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31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BC8D7-3C1A-3676-B9D4-1891E2A63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>
            <a:extLst>
              <a:ext uri="{FF2B5EF4-FFF2-40B4-BE49-F238E27FC236}">
                <a16:creationId xmlns:a16="http://schemas.microsoft.com/office/drawing/2014/main" id="{7035AFAC-2359-2515-D1D3-A8AA79608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5B422BE9-B693-F123-BCB1-93A47BA77616}"/>
              </a:ext>
            </a:extLst>
          </p:cNvPr>
          <p:cNvGrpSpPr/>
          <p:nvPr/>
        </p:nvGrpSpPr>
        <p:grpSpPr>
          <a:xfrm>
            <a:off x="190077" y="5589240"/>
            <a:ext cx="8414371" cy="861954"/>
            <a:chOff x="190077" y="5589240"/>
            <a:chExt cx="8414371" cy="861954"/>
          </a:xfrm>
        </p:grpSpPr>
        <p:pic>
          <p:nvPicPr>
            <p:cNvPr id="15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4236A7F8-4024-0286-7C3A-49C8F6C621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EDBA9CD9-C167-6318-A6C0-3441ECD9D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C24960F0-4E7B-44F7-6618-AC01FBD31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5C0BE43A-D6C1-2A5A-1185-CAB4A5600A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04" y="116632"/>
            <a:ext cx="1080120" cy="1187240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DDC0535E-BDAD-1492-432E-D04E32DD2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3768" y="685241"/>
            <a:ext cx="4591147" cy="618631"/>
          </a:xfr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s-MX" sz="3800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2. BIBLIOGRAFÍA</a:t>
            </a:r>
            <a:endParaRPr lang="es-CO" sz="3800" dirty="0">
              <a:solidFill>
                <a:srgbClr val="8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C27DEB-F6FC-5D41-A240-3D849E838556}"/>
              </a:ext>
            </a:extLst>
          </p:cNvPr>
          <p:cNvSpPr txBox="1"/>
          <p:nvPr/>
        </p:nvSpPr>
        <p:spPr>
          <a:xfrm>
            <a:off x="2267744" y="4889847"/>
            <a:ext cx="2675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COLOMBIA</a:t>
            </a:r>
            <a:endParaRPr lang="es-CO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6F7CF79-FC96-BC23-4814-6681A0F5F5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866897"/>
            <a:ext cx="2675460" cy="304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072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3 CuadroTexto"/>
          <p:cNvSpPr txBox="1"/>
          <p:nvPr/>
        </p:nvSpPr>
        <p:spPr>
          <a:xfrm>
            <a:off x="2195736" y="1616159"/>
            <a:ext cx="43204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800" b="1" u="sng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Prueba Pericial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2071960-163C-BC68-190C-655F784C3430}"/>
              </a:ext>
            </a:extLst>
          </p:cNvPr>
          <p:cNvGrpSpPr/>
          <p:nvPr/>
        </p:nvGrpSpPr>
        <p:grpSpPr>
          <a:xfrm>
            <a:off x="190077" y="5517232"/>
            <a:ext cx="8414371" cy="861954"/>
            <a:chOff x="190077" y="5589240"/>
            <a:chExt cx="8414371" cy="861954"/>
          </a:xfrm>
        </p:grpSpPr>
        <p:pic>
          <p:nvPicPr>
            <p:cNvPr id="17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52471D51-DA9A-41E6-3871-CF41BBE261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A0EB544A-4DB2-D89C-424B-7C774B9E6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D72EFC4D-72AB-3C29-9BCD-26D1FF880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7B8DC321-C1F3-B1E8-C588-8AED3B4DF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71" y="188336"/>
            <a:ext cx="1152525" cy="126682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AE78887-DE15-4652-D2B6-D27048E869C8}"/>
              </a:ext>
            </a:extLst>
          </p:cNvPr>
          <p:cNvSpPr txBox="1"/>
          <p:nvPr/>
        </p:nvSpPr>
        <p:spPr>
          <a:xfrm>
            <a:off x="611561" y="2602107"/>
            <a:ext cx="75608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Es un medio probatorio </a:t>
            </a:r>
            <a:r>
              <a:rPr lang="es-ES" sz="2400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clave en juicios </a:t>
            </a:r>
            <a:r>
              <a:rPr lang="es-E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donde un experto (perito), con conocimientos científicos</a:t>
            </a:r>
            <a:r>
              <a:rPr lang="es-ES" sz="2400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, técnicos o artísticos, analiza hechos complejos y presenta </a:t>
            </a:r>
            <a:r>
              <a:rPr lang="es-E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un informe base de opinión pericial no un dictamen</a:t>
            </a:r>
            <a:r>
              <a:rPr lang="es-ES" sz="2400" b="0" i="0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, para esclarecerlos, </a:t>
            </a:r>
            <a:r>
              <a:rPr lang="es-E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ayudando al juez a entender aspectos que van más allá de su saber jurídico</a:t>
            </a:r>
            <a:r>
              <a:rPr lang="es-MX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</a:t>
            </a:r>
            <a:endParaRPr lang="es-CO" sz="2400" dirty="0">
              <a:solidFill>
                <a:srgbClr val="FF0000"/>
              </a:solidFill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636D19B1-B3C7-4BF1-951B-9EFDD596D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073" y="859797"/>
            <a:ext cx="5295854" cy="618631"/>
          </a:xfr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s-MX" sz="3800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3. REVISIÓN CONCEPTUAL</a:t>
            </a:r>
            <a:endParaRPr lang="es-CO" sz="3800" dirty="0">
              <a:solidFill>
                <a:srgbClr val="8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66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5DF1-7135-211B-1449-1FD35990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>
            <a:extLst>
              <a:ext uri="{FF2B5EF4-FFF2-40B4-BE49-F238E27FC236}">
                <a16:creationId xmlns:a16="http://schemas.microsoft.com/office/drawing/2014/main" id="{0CFBBB4C-B203-A826-FEA3-5DF5904BB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3 CuadroTexto">
            <a:extLst>
              <a:ext uri="{FF2B5EF4-FFF2-40B4-BE49-F238E27FC236}">
                <a16:creationId xmlns:a16="http://schemas.microsoft.com/office/drawing/2014/main" id="{63F01908-31BE-384D-AA58-65261188B9FC}"/>
              </a:ext>
            </a:extLst>
          </p:cNvPr>
          <p:cNvSpPr txBox="1"/>
          <p:nvPr/>
        </p:nvSpPr>
        <p:spPr>
          <a:xfrm>
            <a:off x="2195736" y="1616159"/>
            <a:ext cx="43204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800" b="1" u="sng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Medios de Prueba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B700237-DDCE-D8D0-14A4-5CF73596D3DA}"/>
              </a:ext>
            </a:extLst>
          </p:cNvPr>
          <p:cNvGrpSpPr/>
          <p:nvPr/>
        </p:nvGrpSpPr>
        <p:grpSpPr>
          <a:xfrm>
            <a:off x="190077" y="5517232"/>
            <a:ext cx="8414371" cy="861954"/>
            <a:chOff x="190077" y="5589240"/>
            <a:chExt cx="8414371" cy="861954"/>
          </a:xfrm>
        </p:grpSpPr>
        <p:pic>
          <p:nvPicPr>
            <p:cNvPr id="17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596701EE-D35C-160B-FBB2-C1C348FB76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11AC5644-1113-9467-C6A0-BA8A2C4CC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6A8A2C1C-F2FD-3070-118D-9C42284E9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73241721-ED50-611D-7A26-762490AF9D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71" y="188336"/>
            <a:ext cx="1152525" cy="126682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6463050-FC4C-A609-F787-CB0195E58066}"/>
              </a:ext>
            </a:extLst>
          </p:cNvPr>
          <p:cNvSpPr txBox="1"/>
          <p:nvPr/>
        </p:nvSpPr>
        <p:spPr>
          <a:xfrm>
            <a:off x="611561" y="2602107"/>
            <a:ext cx="75608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400" b="0" i="0" dirty="0">
                <a:effectLst/>
                <a:latin typeface="Arial" panose="020B0604020202020204" pitchFamily="34" charset="0"/>
              </a:rPr>
              <a:t>Forma de obtener la prueba:</a:t>
            </a:r>
          </a:p>
          <a:p>
            <a:pPr algn="just"/>
            <a:endParaRPr lang="es-CO" sz="2400" b="0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457200" indent="-457200" algn="just">
              <a:buAutoNum type="arabicPeriod"/>
            </a:pPr>
            <a:r>
              <a:rPr lang="es-CO" sz="2400" dirty="0">
                <a:latin typeface="Arial" panose="020B0604020202020204" pitchFamily="34" charset="0"/>
              </a:rPr>
              <a:t>Documento</a:t>
            </a:r>
          </a:p>
          <a:p>
            <a:pPr marL="457200" indent="-457200" algn="just">
              <a:buAutoNum type="arabicPeriod"/>
            </a:pPr>
            <a:r>
              <a:rPr lang="es-CO" sz="2400" b="0" i="0" dirty="0">
                <a:effectLst/>
                <a:latin typeface="Arial" panose="020B0604020202020204" pitchFamily="34" charset="0"/>
              </a:rPr>
              <a:t>Testimonial</a:t>
            </a:r>
          </a:p>
          <a:p>
            <a:pPr marL="457200" indent="-457200" algn="just">
              <a:buAutoNum type="arabicPeriod"/>
            </a:pPr>
            <a:r>
              <a:rPr lang="es-CO" sz="2400" dirty="0">
                <a:latin typeface="Arial" panose="020B0604020202020204" pitchFamily="34" charset="0"/>
              </a:rPr>
              <a:t>La pericia</a:t>
            </a:r>
            <a:endParaRPr lang="es-CO" sz="2400" b="0" i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F3CC896-AF13-ABD9-182D-F76754FA9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073" y="859797"/>
            <a:ext cx="5295854" cy="618631"/>
          </a:xfr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s-MX" sz="3800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3. REVISIÓN CONCEPTUAL</a:t>
            </a:r>
            <a:endParaRPr lang="es-CO" sz="3800" dirty="0">
              <a:solidFill>
                <a:srgbClr val="8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645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3 CuadroTexto"/>
          <p:cNvSpPr txBox="1"/>
          <p:nvPr/>
        </p:nvSpPr>
        <p:spPr>
          <a:xfrm>
            <a:off x="2091605" y="753057"/>
            <a:ext cx="480063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800" b="1" u="sng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Interrogatorio Vs Contrainterrogatorio: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2071960-163C-BC68-190C-655F784C3430}"/>
              </a:ext>
            </a:extLst>
          </p:cNvPr>
          <p:cNvGrpSpPr/>
          <p:nvPr/>
        </p:nvGrpSpPr>
        <p:grpSpPr>
          <a:xfrm>
            <a:off x="190077" y="5517232"/>
            <a:ext cx="8414371" cy="861954"/>
            <a:chOff x="190077" y="5589240"/>
            <a:chExt cx="8414371" cy="861954"/>
          </a:xfrm>
        </p:grpSpPr>
        <p:pic>
          <p:nvPicPr>
            <p:cNvPr id="17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52471D51-DA9A-41E6-3871-CF41BBE261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A0EB544A-4DB2-D89C-424B-7C774B9E6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D72EFC4D-72AB-3C29-9BCD-26D1FF880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7B8DC321-C1F3-B1E8-C588-8AED3B4DF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71" y="188336"/>
            <a:ext cx="1152525" cy="126682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AC70213-2624-4B07-8707-8B20BA14CA2F}"/>
              </a:ext>
            </a:extLst>
          </p:cNvPr>
          <p:cNvSpPr txBox="1"/>
          <p:nvPr/>
        </p:nvSpPr>
        <p:spPr>
          <a:xfrm>
            <a:off x="672920" y="2020947"/>
            <a:ext cx="70861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solidFill>
                  <a:srgbClr val="474747"/>
                </a:solidFill>
                <a:latin typeface="Arial" panose="020B0604020202020204" pitchFamily="34" charset="0"/>
              </a:rPr>
              <a:t>El interrogatorio y el contrainterrogatorio son técnicas de litigación oral en juicios para abordar testigos, peritos o víctimas. </a:t>
            </a:r>
          </a:p>
          <a:p>
            <a:pPr algn="just"/>
            <a:endParaRPr lang="es-ES" sz="2400" dirty="0">
              <a:solidFill>
                <a:srgbClr val="474747"/>
              </a:solidFill>
              <a:latin typeface="Arial" panose="020B0604020202020204" pitchFamily="34" charset="0"/>
            </a:endParaRPr>
          </a:p>
          <a:p>
            <a:pPr algn="just"/>
            <a:r>
              <a:rPr lang="es-ES" sz="2400" dirty="0">
                <a:solidFill>
                  <a:srgbClr val="474747"/>
                </a:solidFill>
                <a:latin typeface="Arial" panose="020B0604020202020204" pitchFamily="34" charset="0"/>
              </a:rPr>
              <a:t>El interrogatorio directo lo realiza quien propone al testigo, usando preguntas abiertas para acreditar su historia. </a:t>
            </a:r>
            <a:endParaRPr lang="es-CO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390E83E-8972-44B5-9B95-5FD9E38CDE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1409" y="241793"/>
            <a:ext cx="1490648" cy="6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35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80157-0675-4C80-A0F2-C1BC0636A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>
            <a:extLst>
              <a:ext uri="{FF2B5EF4-FFF2-40B4-BE49-F238E27FC236}">
                <a16:creationId xmlns:a16="http://schemas.microsoft.com/office/drawing/2014/main" id="{E18B0120-B558-B777-4C4D-26C6BE5E3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3 CuadroTexto">
            <a:extLst>
              <a:ext uri="{FF2B5EF4-FFF2-40B4-BE49-F238E27FC236}">
                <a16:creationId xmlns:a16="http://schemas.microsoft.com/office/drawing/2014/main" id="{3F947AC8-A9DA-A50B-0636-58395C09A247}"/>
              </a:ext>
            </a:extLst>
          </p:cNvPr>
          <p:cNvSpPr txBox="1"/>
          <p:nvPr/>
        </p:nvSpPr>
        <p:spPr>
          <a:xfrm>
            <a:off x="2091605" y="753057"/>
            <a:ext cx="480063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800" b="1" u="sng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Contrainterrogatorio: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F5C5AAF3-9A6A-CAB5-54E5-0C52A7091105}"/>
              </a:ext>
            </a:extLst>
          </p:cNvPr>
          <p:cNvGrpSpPr/>
          <p:nvPr/>
        </p:nvGrpSpPr>
        <p:grpSpPr>
          <a:xfrm>
            <a:off x="190077" y="5517232"/>
            <a:ext cx="8414371" cy="861954"/>
            <a:chOff x="190077" y="5589240"/>
            <a:chExt cx="8414371" cy="861954"/>
          </a:xfrm>
        </p:grpSpPr>
        <p:pic>
          <p:nvPicPr>
            <p:cNvPr id="17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5B2E04C9-D7FF-B535-0C55-3152B80B31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E7155C43-61A1-2356-9F4F-05A77EA12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25291EC9-C827-CFC3-844F-76B081D6A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AB69B251-D646-5585-8A26-17FFC96E8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71" y="188336"/>
            <a:ext cx="1152525" cy="126682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C67B389C-EB6C-C45D-8BD4-FCC21C0CD114}"/>
              </a:ext>
            </a:extLst>
          </p:cNvPr>
          <p:cNvSpPr txBox="1"/>
          <p:nvPr/>
        </p:nvSpPr>
        <p:spPr>
          <a:xfrm>
            <a:off x="810636" y="2393280"/>
            <a:ext cx="70861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El contrainterrogatorio lo hace la contraparte para desacreditar o limitar el testimonio, empleando preguntas cerradas o sugestivas. </a:t>
            </a:r>
            <a:endParaRPr lang="es-CO" sz="2400" dirty="0">
              <a:solidFill>
                <a:srgbClr val="FF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7A16BB-6EFB-01EA-B023-DA1F89ADC4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1409" y="241793"/>
            <a:ext cx="1490648" cy="6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055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26C5B-5439-DF31-446E-33F2AEA82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>
            <a:extLst>
              <a:ext uri="{FF2B5EF4-FFF2-40B4-BE49-F238E27FC236}">
                <a16:creationId xmlns:a16="http://schemas.microsoft.com/office/drawing/2014/main" id="{A1960FDF-6737-D0B6-A39A-20566F8CE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3 CuadroTexto">
            <a:extLst>
              <a:ext uri="{FF2B5EF4-FFF2-40B4-BE49-F238E27FC236}">
                <a16:creationId xmlns:a16="http://schemas.microsoft.com/office/drawing/2014/main" id="{393E40DC-B33A-8E75-D6E0-52385823C81F}"/>
              </a:ext>
            </a:extLst>
          </p:cNvPr>
          <p:cNvSpPr txBox="1"/>
          <p:nvPr/>
        </p:nvSpPr>
        <p:spPr>
          <a:xfrm>
            <a:off x="2219633" y="1008003"/>
            <a:ext cx="432048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800" b="1" u="sng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Características de la prueba: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2E08B463-3888-B1DE-EA14-C379FE8C3A89}"/>
              </a:ext>
            </a:extLst>
          </p:cNvPr>
          <p:cNvGrpSpPr/>
          <p:nvPr/>
        </p:nvGrpSpPr>
        <p:grpSpPr>
          <a:xfrm>
            <a:off x="190077" y="5517232"/>
            <a:ext cx="8414371" cy="861954"/>
            <a:chOff x="190077" y="5589240"/>
            <a:chExt cx="8414371" cy="861954"/>
          </a:xfrm>
        </p:grpSpPr>
        <p:pic>
          <p:nvPicPr>
            <p:cNvPr id="17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CEBD5E04-D700-2C9B-5D26-78A927E2E5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2E99FB85-65A2-F4CF-E4CA-BEE13719F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046E9DE7-6089-2DBC-8C9D-D927B8F2D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6E231BCE-1785-86CA-D68A-5A4EC99997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71" y="188336"/>
            <a:ext cx="1152525" cy="126682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BECA90E-DF0F-6386-FDF7-7ECD8C80F95B}"/>
              </a:ext>
            </a:extLst>
          </p:cNvPr>
          <p:cNvSpPr txBox="1"/>
          <p:nvPr/>
        </p:nvSpPr>
        <p:spPr>
          <a:xfrm>
            <a:off x="594100" y="2774392"/>
            <a:ext cx="75715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ES" sz="2400" dirty="0">
                <a:solidFill>
                  <a:srgbClr val="474747"/>
                </a:solidFill>
                <a:latin typeface="Arial" panose="020B0604020202020204" pitchFamily="34" charset="0"/>
              </a:rPr>
              <a:t>Es técnica y científica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ES" sz="2400" dirty="0">
                <a:solidFill>
                  <a:srgbClr val="474747"/>
                </a:solidFill>
                <a:latin typeface="Arial" panose="020B0604020202020204" pitchFamily="34" charset="0"/>
              </a:rPr>
              <a:t>Auxilia al juez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ES" sz="2400" dirty="0">
                <a:solidFill>
                  <a:srgbClr val="474747"/>
                </a:solidFill>
                <a:latin typeface="Arial" panose="020B0604020202020204" pitchFamily="34" charset="0"/>
              </a:rPr>
              <a:t>Debe ser objetiva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ES" sz="2400" dirty="0">
                <a:solidFill>
                  <a:srgbClr val="474747"/>
                </a:solidFill>
                <a:latin typeface="Arial" panose="020B0604020202020204" pitchFamily="34" charset="0"/>
              </a:rPr>
              <a:t>Es controvertible</a:t>
            </a:r>
          </a:p>
          <a:p>
            <a:pPr algn="just"/>
            <a:endParaRPr lang="es-CO" sz="2400" i="1" u="sng" dirty="0"/>
          </a:p>
        </p:txBody>
      </p:sp>
    </p:spTree>
    <p:extLst>
      <p:ext uri="{BB962C8B-B14F-4D97-AF65-F5344CB8AC3E}">
        <p14:creationId xmlns:p14="http://schemas.microsoft.com/office/powerpoint/2010/main" val="3909350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07F81-BA88-32E0-14A1-7282EA8A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>
            <a:extLst>
              <a:ext uri="{FF2B5EF4-FFF2-40B4-BE49-F238E27FC236}">
                <a16:creationId xmlns:a16="http://schemas.microsoft.com/office/drawing/2014/main" id="{B152DE67-E8F6-0B48-CFA4-7B6FFADE5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3 CuadroTexto">
            <a:extLst>
              <a:ext uri="{FF2B5EF4-FFF2-40B4-BE49-F238E27FC236}">
                <a16:creationId xmlns:a16="http://schemas.microsoft.com/office/drawing/2014/main" id="{358B8B4F-731D-0B2E-5DB8-013022EC1AE6}"/>
              </a:ext>
            </a:extLst>
          </p:cNvPr>
          <p:cNvSpPr txBox="1"/>
          <p:nvPr/>
        </p:nvSpPr>
        <p:spPr>
          <a:xfrm>
            <a:off x="2219633" y="1008003"/>
            <a:ext cx="432048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800" b="1" u="sng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Presentación en el juicio de la prueba: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A77C39C5-64C0-0015-0139-27B83972BED0}"/>
              </a:ext>
            </a:extLst>
          </p:cNvPr>
          <p:cNvGrpSpPr/>
          <p:nvPr/>
        </p:nvGrpSpPr>
        <p:grpSpPr>
          <a:xfrm>
            <a:off x="190077" y="5517232"/>
            <a:ext cx="8414371" cy="861954"/>
            <a:chOff x="190077" y="5589240"/>
            <a:chExt cx="8414371" cy="861954"/>
          </a:xfrm>
        </p:grpSpPr>
        <p:pic>
          <p:nvPicPr>
            <p:cNvPr id="17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851247DB-6C2E-3FAF-4CCB-3C953174F2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0DC30C43-6694-05E5-342D-4DFB5F956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9B9E6109-9A77-201D-2F78-10A50EDE8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FB4363AD-9C63-5CAB-2A29-F8A5A89F8F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71" y="188336"/>
            <a:ext cx="1152525" cy="126682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27D6DD8-B25D-B4E5-F3D6-46DD02F217F5}"/>
              </a:ext>
            </a:extLst>
          </p:cNvPr>
          <p:cNvSpPr txBox="1"/>
          <p:nvPr/>
        </p:nvSpPr>
        <p:spPr>
          <a:xfrm>
            <a:off x="786227" y="2961162"/>
            <a:ext cx="75715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ES" sz="2400" dirty="0">
                <a:solidFill>
                  <a:srgbClr val="474747"/>
                </a:solidFill>
                <a:latin typeface="Arial" panose="020B0604020202020204" pitchFamily="34" charset="0"/>
              </a:rPr>
              <a:t>Informe escrito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ES" sz="2400" dirty="0">
                <a:solidFill>
                  <a:srgbClr val="474747"/>
                </a:solidFill>
                <a:latin typeface="Arial" panose="020B0604020202020204" pitchFamily="34" charset="0"/>
              </a:rPr>
              <a:t>Declaración oral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ES" sz="2400" dirty="0">
                <a:solidFill>
                  <a:srgbClr val="474747"/>
                </a:solidFill>
                <a:latin typeface="Arial" panose="020B0604020202020204" pitchFamily="34" charset="0"/>
              </a:rPr>
              <a:t>Valor depende de explicación</a:t>
            </a:r>
          </a:p>
        </p:txBody>
      </p:sp>
    </p:spTree>
    <p:extLst>
      <p:ext uri="{BB962C8B-B14F-4D97-AF65-F5344CB8AC3E}">
        <p14:creationId xmlns:p14="http://schemas.microsoft.com/office/powerpoint/2010/main" val="2896001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07F81-BA88-32E0-14A1-7282EA8A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>
            <a:extLst>
              <a:ext uri="{FF2B5EF4-FFF2-40B4-BE49-F238E27FC236}">
                <a16:creationId xmlns:a16="http://schemas.microsoft.com/office/drawing/2014/main" id="{B152DE67-E8F6-0B48-CFA4-7B6FFADE5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3 CuadroTexto">
            <a:extLst>
              <a:ext uri="{FF2B5EF4-FFF2-40B4-BE49-F238E27FC236}">
                <a16:creationId xmlns:a16="http://schemas.microsoft.com/office/drawing/2014/main" id="{358B8B4F-731D-0B2E-5DB8-013022EC1AE6}"/>
              </a:ext>
            </a:extLst>
          </p:cNvPr>
          <p:cNvSpPr txBox="1"/>
          <p:nvPr/>
        </p:nvSpPr>
        <p:spPr>
          <a:xfrm>
            <a:off x="2219633" y="1008003"/>
            <a:ext cx="432048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800" b="1" u="sng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VALORACIÓN DE LA PRUEBA</a:t>
            </a:r>
            <a:endParaRPr lang="es-CO" sz="3800" b="1" u="sng" dirty="0">
              <a:solidFill>
                <a:srgbClr val="8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A77C39C5-64C0-0015-0139-27B83972BED0}"/>
              </a:ext>
            </a:extLst>
          </p:cNvPr>
          <p:cNvGrpSpPr/>
          <p:nvPr/>
        </p:nvGrpSpPr>
        <p:grpSpPr>
          <a:xfrm>
            <a:off x="190077" y="5517232"/>
            <a:ext cx="8414371" cy="861954"/>
            <a:chOff x="190077" y="5589240"/>
            <a:chExt cx="8414371" cy="861954"/>
          </a:xfrm>
        </p:grpSpPr>
        <p:pic>
          <p:nvPicPr>
            <p:cNvPr id="17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851247DB-6C2E-3FAF-4CCB-3C953174F2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0DC30C43-6694-05E5-342D-4DFB5F956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9B9E6109-9A77-201D-2F78-10A50EDE8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FB4363AD-9C63-5CAB-2A29-F8A5A89F8F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71" y="188336"/>
            <a:ext cx="1152525" cy="126682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27D6DD8-B25D-B4E5-F3D6-46DD02F217F5}"/>
              </a:ext>
            </a:extLst>
          </p:cNvPr>
          <p:cNvSpPr txBox="1"/>
          <p:nvPr/>
        </p:nvSpPr>
        <p:spPr>
          <a:xfrm>
            <a:off x="536379" y="2269887"/>
            <a:ext cx="7571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CO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90DB9D9-3EC7-4FD3-B5A7-A05E371D3012}"/>
              </a:ext>
            </a:extLst>
          </p:cNvPr>
          <p:cNvSpPr txBox="1"/>
          <p:nvPr/>
        </p:nvSpPr>
        <p:spPr>
          <a:xfrm>
            <a:off x="957013" y="2877897"/>
            <a:ext cx="67687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Sana crítica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Metodología aplicada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Coherencia y claridad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Fundamento científico</a:t>
            </a:r>
          </a:p>
        </p:txBody>
      </p:sp>
    </p:spTree>
    <p:extLst>
      <p:ext uri="{BB962C8B-B14F-4D97-AF65-F5344CB8AC3E}">
        <p14:creationId xmlns:p14="http://schemas.microsoft.com/office/powerpoint/2010/main" val="1891002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07F81-BA88-32E0-14A1-7282EA8A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>
            <a:extLst>
              <a:ext uri="{FF2B5EF4-FFF2-40B4-BE49-F238E27FC236}">
                <a16:creationId xmlns:a16="http://schemas.microsoft.com/office/drawing/2014/main" id="{B152DE67-E8F6-0B48-CFA4-7B6FFADE5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A77C39C5-64C0-0015-0139-27B83972BED0}"/>
              </a:ext>
            </a:extLst>
          </p:cNvPr>
          <p:cNvGrpSpPr/>
          <p:nvPr/>
        </p:nvGrpSpPr>
        <p:grpSpPr>
          <a:xfrm>
            <a:off x="190077" y="5517232"/>
            <a:ext cx="8414371" cy="861954"/>
            <a:chOff x="190077" y="5589240"/>
            <a:chExt cx="8414371" cy="861954"/>
          </a:xfrm>
        </p:grpSpPr>
        <p:pic>
          <p:nvPicPr>
            <p:cNvPr id="17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851247DB-6C2E-3FAF-4CCB-3C953174F2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0DC30C43-6694-05E5-342D-4DFB5F956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9B9E6109-9A77-201D-2F78-10A50EDE8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FB4363AD-9C63-5CAB-2A29-F8A5A89F8F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71" y="188337"/>
            <a:ext cx="965653" cy="106142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27D6DD8-B25D-B4E5-F3D6-46DD02F217F5}"/>
              </a:ext>
            </a:extLst>
          </p:cNvPr>
          <p:cNvSpPr txBox="1"/>
          <p:nvPr/>
        </p:nvSpPr>
        <p:spPr>
          <a:xfrm>
            <a:off x="528847" y="2229906"/>
            <a:ext cx="7571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CO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90DB9D9-3EC7-4FD3-B5A7-A05E371D3012}"/>
              </a:ext>
            </a:extLst>
          </p:cNvPr>
          <p:cNvSpPr txBox="1"/>
          <p:nvPr/>
        </p:nvSpPr>
        <p:spPr>
          <a:xfrm>
            <a:off x="647564" y="2486386"/>
            <a:ext cx="78488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Cuestionar idoneidad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Evidenciar sesgo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Atacar metodología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Obtener conclusiones sobre la valoración de la prueba.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3 CuadroTexto">
            <a:extLst>
              <a:ext uri="{FF2B5EF4-FFF2-40B4-BE49-F238E27FC236}">
                <a16:creationId xmlns:a16="http://schemas.microsoft.com/office/drawing/2014/main" id="{1681B80E-364B-4983-B4A5-75B6C5DF5CAF}"/>
              </a:ext>
            </a:extLst>
          </p:cNvPr>
          <p:cNvSpPr txBox="1"/>
          <p:nvPr/>
        </p:nvSpPr>
        <p:spPr>
          <a:xfrm>
            <a:off x="1415213" y="501981"/>
            <a:ext cx="694877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800" b="1" u="sng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OBJETIVOS DEL CONTRAINTERROGATORIO</a:t>
            </a:r>
          </a:p>
        </p:txBody>
      </p:sp>
    </p:spTree>
    <p:extLst>
      <p:ext uri="{BB962C8B-B14F-4D97-AF65-F5344CB8AC3E}">
        <p14:creationId xmlns:p14="http://schemas.microsoft.com/office/powerpoint/2010/main" val="1145523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FC38-519C-6880-9094-C524654EB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>
            <a:extLst>
              <a:ext uri="{FF2B5EF4-FFF2-40B4-BE49-F238E27FC236}">
                <a16:creationId xmlns:a16="http://schemas.microsoft.com/office/drawing/2014/main" id="{52506EBF-3108-E141-8ED1-B6BC701A3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E430A3E0-04A8-11D1-1040-3D54EEA14F22}"/>
              </a:ext>
            </a:extLst>
          </p:cNvPr>
          <p:cNvGrpSpPr/>
          <p:nvPr/>
        </p:nvGrpSpPr>
        <p:grpSpPr>
          <a:xfrm>
            <a:off x="190077" y="5517232"/>
            <a:ext cx="8414371" cy="861954"/>
            <a:chOff x="190077" y="5589240"/>
            <a:chExt cx="8414371" cy="861954"/>
          </a:xfrm>
        </p:grpSpPr>
        <p:pic>
          <p:nvPicPr>
            <p:cNvPr id="17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79B1AEA1-AB91-EC58-B3F0-7A2F566FBB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C91284E7-08FD-1CFA-8272-005F3C79C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C9441E0D-4A70-25C2-0F6C-01D40AD58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BD41F847-9433-E6D0-C200-19F39F2F6F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71" y="188337"/>
            <a:ext cx="965653" cy="106142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F743567-CBB4-8407-D76D-68746D7AC98D}"/>
              </a:ext>
            </a:extLst>
          </p:cNvPr>
          <p:cNvSpPr txBox="1"/>
          <p:nvPr/>
        </p:nvSpPr>
        <p:spPr>
          <a:xfrm>
            <a:off x="528847" y="2229906"/>
            <a:ext cx="7571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CO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6C7AE0B-5E62-4291-70ED-DF45004CF314}"/>
              </a:ext>
            </a:extLst>
          </p:cNvPr>
          <p:cNvSpPr txBox="1"/>
          <p:nvPr/>
        </p:nvSpPr>
        <p:spPr>
          <a:xfrm>
            <a:off x="691171" y="2670500"/>
            <a:ext cx="78488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IDONEIDAD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¿Cuántos casos similares ha realizado?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¿Tiene certificación en esa técnica específica?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¿Ha publicado investigaciones sobre el tema?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3 CuadroTexto">
            <a:extLst>
              <a:ext uri="{FF2B5EF4-FFF2-40B4-BE49-F238E27FC236}">
                <a16:creationId xmlns:a16="http://schemas.microsoft.com/office/drawing/2014/main" id="{3E19BBBA-6EA9-97B3-2D65-4BBEB14EB089}"/>
              </a:ext>
            </a:extLst>
          </p:cNvPr>
          <p:cNvSpPr txBox="1"/>
          <p:nvPr/>
        </p:nvSpPr>
        <p:spPr>
          <a:xfrm>
            <a:off x="1415213" y="501981"/>
            <a:ext cx="694877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800" b="1" u="sng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TIPOS DE PREGUNTAS EN JUICIO SOBRE PRUEBA PERICIAL</a:t>
            </a:r>
          </a:p>
        </p:txBody>
      </p:sp>
    </p:spTree>
    <p:extLst>
      <p:ext uri="{BB962C8B-B14F-4D97-AF65-F5344CB8AC3E}">
        <p14:creationId xmlns:p14="http://schemas.microsoft.com/office/powerpoint/2010/main" val="2292951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DC8A0-164E-E3E5-2135-8F2D1818F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>
            <a:extLst>
              <a:ext uri="{FF2B5EF4-FFF2-40B4-BE49-F238E27FC236}">
                <a16:creationId xmlns:a16="http://schemas.microsoft.com/office/drawing/2014/main" id="{3F69BA26-82FD-FDE2-3A06-A210A8097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1E485FB9-A8EE-32D9-5EEA-DBD3295169AE}"/>
              </a:ext>
            </a:extLst>
          </p:cNvPr>
          <p:cNvGrpSpPr/>
          <p:nvPr/>
        </p:nvGrpSpPr>
        <p:grpSpPr>
          <a:xfrm>
            <a:off x="190077" y="5517232"/>
            <a:ext cx="8414371" cy="861954"/>
            <a:chOff x="190077" y="5589240"/>
            <a:chExt cx="8414371" cy="861954"/>
          </a:xfrm>
        </p:grpSpPr>
        <p:pic>
          <p:nvPicPr>
            <p:cNvPr id="17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D9745AD4-1C2B-47CD-4F89-37B79AC782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65B7715-841D-80BB-B424-2B0483270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1A799F3E-5A13-2C76-7AA9-CF8F84831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39B3F71E-D1E0-7DD3-6066-582AF3EA0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71" y="188337"/>
            <a:ext cx="965653" cy="106142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71033DE-43BC-F9F8-BEC0-25DB1E21E39B}"/>
              </a:ext>
            </a:extLst>
          </p:cNvPr>
          <p:cNvSpPr txBox="1"/>
          <p:nvPr/>
        </p:nvSpPr>
        <p:spPr>
          <a:xfrm>
            <a:off x="528847" y="2229906"/>
            <a:ext cx="7571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CO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70DFB25-60AA-CB6A-08F2-F0B105BBC2CB}"/>
              </a:ext>
            </a:extLst>
          </p:cNvPr>
          <p:cNvSpPr txBox="1"/>
          <p:nvPr/>
        </p:nvSpPr>
        <p:spPr>
          <a:xfrm>
            <a:off x="691171" y="2670500"/>
            <a:ext cx="78488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SESGO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¿Quién pagó su honorario?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¿Cuántas veces ha trabajado para la fiscalía/defensa?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¿Su ingreso depende de peritajes judiciales?</a:t>
            </a:r>
          </a:p>
        </p:txBody>
      </p:sp>
      <p:sp>
        <p:nvSpPr>
          <p:cNvPr id="13" name="3 CuadroTexto">
            <a:extLst>
              <a:ext uri="{FF2B5EF4-FFF2-40B4-BE49-F238E27FC236}">
                <a16:creationId xmlns:a16="http://schemas.microsoft.com/office/drawing/2014/main" id="{867D7744-C336-4B67-FBFB-5397A0138167}"/>
              </a:ext>
            </a:extLst>
          </p:cNvPr>
          <p:cNvSpPr txBox="1"/>
          <p:nvPr/>
        </p:nvSpPr>
        <p:spPr>
          <a:xfrm>
            <a:off x="1415213" y="501981"/>
            <a:ext cx="694877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800" b="1" u="sng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TIPOS DE PREGUNTAS EN JUICIO SOBRE PRUEBA PERICIAL</a:t>
            </a:r>
          </a:p>
        </p:txBody>
      </p:sp>
    </p:spTree>
    <p:extLst>
      <p:ext uri="{BB962C8B-B14F-4D97-AF65-F5344CB8AC3E}">
        <p14:creationId xmlns:p14="http://schemas.microsoft.com/office/powerpoint/2010/main" val="2379717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7E679-9F97-1166-CF52-ABAC61288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>
            <a:extLst>
              <a:ext uri="{FF2B5EF4-FFF2-40B4-BE49-F238E27FC236}">
                <a16:creationId xmlns:a16="http://schemas.microsoft.com/office/drawing/2014/main" id="{D3AF60E6-E977-DD93-8B7A-53E0DAA68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BFD5A75A-70DD-6905-C4BB-8070640EB391}"/>
              </a:ext>
            </a:extLst>
          </p:cNvPr>
          <p:cNvGrpSpPr/>
          <p:nvPr/>
        </p:nvGrpSpPr>
        <p:grpSpPr>
          <a:xfrm>
            <a:off x="190077" y="5517232"/>
            <a:ext cx="8414371" cy="861954"/>
            <a:chOff x="190077" y="5589240"/>
            <a:chExt cx="8414371" cy="861954"/>
          </a:xfrm>
        </p:grpSpPr>
        <p:pic>
          <p:nvPicPr>
            <p:cNvPr id="17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182EA213-BC64-7636-FE48-7DAE9DDB2F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78C20A2F-5884-A9C8-B416-29D9EAF20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63CFBAC9-43A6-4A46-86D5-B6A582903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1C3BAB8A-E461-6032-1B70-5E4086E328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71" y="188337"/>
            <a:ext cx="965653" cy="106142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FC0BFA5-6F56-4B7D-50F0-A6CE0620094A}"/>
              </a:ext>
            </a:extLst>
          </p:cNvPr>
          <p:cNvSpPr txBox="1"/>
          <p:nvPr/>
        </p:nvSpPr>
        <p:spPr>
          <a:xfrm>
            <a:off x="528847" y="2229906"/>
            <a:ext cx="7571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CO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E89D0C8-F3ED-86C4-FFC8-65AA3A470A4C}"/>
              </a:ext>
            </a:extLst>
          </p:cNvPr>
          <p:cNvSpPr txBox="1"/>
          <p:nvPr/>
        </p:nvSpPr>
        <p:spPr>
          <a:xfrm>
            <a:off x="691171" y="2670500"/>
            <a:ext cx="7848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METODOLOGÍA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¿Ese método tiene margen de error?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¿Está aceptado por la comunidad científica?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¿Aplicó protocolo completo?</a:t>
            </a:r>
          </a:p>
        </p:txBody>
      </p:sp>
      <p:sp>
        <p:nvSpPr>
          <p:cNvPr id="13" name="3 CuadroTexto">
            <a:extLst>
              <a:ext uri="{FF2B5EF4-FFF2-40B4-BE49-F238E27FC236}">
                <a16:creationId xmlns:a16="http://schemas.microsoft.com/office/drawing/2014/main" id="{1B59D0B3-0609-AE87-B3EF-A4CA9A38E64B}"/>
              </a:ext>
            </a:extLst>
          </p:cNvPr>
          <p:cNvSpPr txBox="1"/>
          <p:nvPr/>
        </p:nvSpPr>
        <p:spPr>
          <a:xfrm>
            <a:off x="1415213" y="501981"/>
            <a:ext cx="694877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800" b="1" u="sng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TIPOS DE PREGUNTAS EN JUICIO SOBRE PRUEBA PERICIAL</a:t>
            </a:r>
          </a:p>
        </p:txBody>
      </p:sp>
    </p:spTree>
    <p:extLst>
      <p:ext uri="{BB962C8B-B14F-4D97-AF65-F5344CB8AC3E}">
        <p14:creationId xmlns:p14="http://schemas.microsoft.com/office/powerpoint/2010/main" val="96700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2B29A-E588-64C6-86AB-EAAE0C951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>
            <a:extLst>
              <a:ext uri="{FF2B5EF4-FFF2-40B4-BE49-F238E27FC236}">
                <a16:creationId xmlns:a16="http://schemas.microsoft.com/office/drawing/2014/main" id="{1F8D6EC5-5C3D-F200-1A86-26466BF82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9E42E50A-C4F5-0068-25BD-8C896499FBCE}"/>
              </a:ext>
            </a:extLst>
          </p:cNvPr>
          <p:cNvGrpSpPr/>
          <p:nvPr/>
        </p:nvGrpSpPr>
        <p:grpSpPr>
          <a:xfrm>
            <a:off x="190077" y="5517232"/>
            <a:ext cx="8414371" cy="861954"/>
            <a:chOff x="190077" y="5589240"/>
            <a:chExt cx="8414371" cy="861954"/>
          </a:xfrm>
        </p:grpSpPr>
        <p:pic>
          <p:nvPicPr>
            <p:cNvPr id="17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26907A95-1758-ACC2-FBE1-8E95FF3D32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6A2C27D7-89DE-EAE5-73DA-B814AC00A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536FA286-336F-139A-6158-2D6261183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2B032F7D-4C09-5134-F85F-CDFA202764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71" y="188337"/>
            <a:ext cx="965653" cy="106142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0EEB60F-57E0-5FFC-52F3-6482D213A5BD}"/>
              </a:ext>
            </a:extLst>
          </p:cNvPr>
          <p:cNvSpPr txBox="1"/>
          <p:nvPr/>
        </p:nvSpPr>
        <p:spPr>
          <a:xfrm>
            <a:off x="528847" y="2229906"/>
            <a:ext cx="75715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CO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CCDBBF1-0684-0128-C4B8-FFBC231C3CC2}"/>
              </a:ext>
            </a:extLst>
          </p:cNvPr>
          <p:cNvSpPr txBox="1"/>
          <p:nvPr/>
        </p:nvSpPr>
        <p:spPr>
          <a:xfrm>
            <a:off x="691171" y="2670500"/>
            <a:ext cx="7848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Su conclusión depende de que la muestra no esté contaminada, ¿correcto?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No puede afirmar certeza absoluta, ¿verdad?</a:t>
            </a:r>
          </a:p>
        </p:txBody>
      </p:sp>
      <p:sp>
        <p:nvSpPr>
          <p:cNvPr id="13" name="3 CuadroTexto">
            <a:extLst>
              <a:ext uri="{FF2B5EF4-FFF2-40B4-BE49-F238E27FC236}">
                <a16:creationId xmlns:a16="http://schemas.microsoft.com/office/drawing/2014/main" id="{D04415CB-6072-EA4D-C271-44F780F13309}"/>
              </a:ext>
            </a:extLst>
          </p:cNvPr>
          <p:cNvSpPr txBox="1"/>
          <p:nvPr/>
        </p:nvSpPr>
        <p:spPr>
          <a:xfrm>
            <a:off x="1415213" y="501981"/>
            <a:ext cx="694877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800" b="1" u="sng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TIPOS DE PREGUNTAS EN JUICIO SOBRE PRUEBA PERICIAL</a:t>
            </a:r>
          </a:p>
        </p:txBody>
      </p:sp>
    </p:spTree>
    <p:extLst>
      <p:ext uri="{BB962C8B-B14F-4D97-AF65-F5344CB8AC3E}">
        <p14:creationId xmlns:p14="http://schemas.microsoft.com/office/powerpoint/2010/main" val="1985067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3 CuadroTexto"/>
          <p:cNvSpPr txBox="1"/>
          <p:nvPr/>
        </p:nvSpPr>
        <p:spPr>
          <a:xfrm>
            <a:off x="2593182" y="478814"/>
            <a:ext cx="43204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800" b="1" u="sng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s-CO" sz="3800" b="1" u="sng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ONCLUSIONES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2071960-163C-BC68-190C-655F784C3430}"/>
              </a:ext>
            </a:extLst>
          </p:cNvPr>
          <p:cNvGrpSpPr/>
          <p:nvPr/>
        </p:nvGrpSpPr>
        <p:grpSpPr>
          <a:xfrm>
            <a:off x="190077" y="5517232"/>
            <a:ext cx="8414371" cy="861954"/>
            <a:chOff x="190077" y="5589240"/>
            <a:chExt cx="8414371" cy="861954"/>
          </a:xfrm>
        </p:grpSpPr>
        <p:pic>
          <p:nvPicPr>
            <p:cNvPr id="17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52471D51-DA9A-41E6-3871-CF41BBE261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A0EB544A-4DB2-D89C-424B-7C774B9E6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D72EFC4D-72AB-3C29-9BCD-26D1FF880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7B8DC321-C1F3-B1E8-C588-8AED3B4DFB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71" y="188336"/>
            <a:ext cx="1152525" cy="1266825"/>
          </a:xfrm>
          <a:prstGeom prst="rect">
            <a:avLst/>
          </a:prstGeom>
        </p:spPr>
      </p:pic>
      <p:sp>
        <p:nvSpPr>
          <p:cNvPr id="9" name="Título 9">
            <a:extLst>
              <a:ext uri="{FF2B5EF4-FFF2-40B4-BE49-F238E27FC236}">
                <a16:creationId xmlns:a16="http://schemas.microsoft.com/office/drawing/2014/main" id="{CFE9A984-5AD8-44EB-96C8-3A2682EF1990}"/>
              </a:ext>
            </a:extLst>
          </p:cNvPr>
          <p:cNvSpPr txBox="1">
            <a:spLocks/>
          </p:cNvSpPr>
          <p:nvPr/>
        </p:nvSpPr>
        <p:spPr>
          <a:xfrm>
            <a:off x="798233" y="1892957"/>
            <a:ext cx="7200800" cy="3156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accent1"/>
                </a:solidFill>
                <a:latin typeface="Impac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accent1"/>
                </a:solidFill>
                <a:latin typeface="Impac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accent1"/>
                </a:solidFill>
                <a:latin typeface="Impac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accent1"/>
                </a:solidFill>
                <a:latin typeface="Impac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accent1"/>
                </a:solidFill>
                <a:latin typeface="Impac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accent1"/>
                </a:solidFill>
                <a:latin typeface="Impac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accent1"/>
                </a:solidFill>
                <a:latin typeface="Impac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400">
                <a:solidFill>
                  <a:schemeClr val="accent1"/>
                </a:solidFill>
                <a:latin typeface="Impact" pitchFamily="34" charset="0"/>
              </a:defRPr>
            </a:lvl9pPr>
          </a:lstStyle>
          <a:p>
            <a:pPr algn="just"/>
            <a:r>
              <a:rPr lang="es-MX" sz="4900" b="1" i="1" dirty="0">
                <a:solidFill>
                  <a:srgbClr val="0070C0"/>
                </a:solidFill>
                <a:latin typeface="Calibri Light (Títulos)"/>
              </a:rPr>
              <a:t>La prueba no siempre prueba, lo que debe probar</a:t>
            </a:r>
          </a:p>
          <a:p>
            <a:pPr algn="just"/>
            <a:r>
              <a:rPr lang="es-MX" sz="3900" b="1" i="1" dirty="0">
                <a:solidFill>
                  <a:srgbClr val="0070C0"/>
                </a:solidFill>
                <a:latin typeface="Calibri Light (Títulos)"/>
              </a:rPr>
              <a:t>El informe persuade</a:t>
            </a:r>
          </a:p>
          <a:p>
            <a:pPr algn="just"/>
            <a:r>
              <a:rPr lang="es-MX" sz="3900" b="1" i="1" dirty="0">
                <a:solidFill>
                  <a:srgbClr val="0070C0"/>
                </a:solidFill>
                <a:latin typeface="Calibri Light (Títulos)"/>
              </a:rPr>
              <a:t>El contrainterrogatorio decide</a:t>
            </a:r>
          </a:p>
          <a:p>
            <a:pPr algn="just"/>
            <a:r>
              <a:rPr lang="es-MX" sz="3900" b="1" i="1" dirty="0">
                <a:solidFill>
                  <a:srgbClr val="0070C0"/>
                </a:solidFill>
                <a:latin typeface="Calibri Light (Títulos)"/>
              </a:rPr>
              <a:t>La ciencia debilita la ciencia</a:t>
            </a:r>
            <a:br>
              <a:rPr lang="es-MX" b="1" i="1" dirty="0"/>
            </a:br>
            <a:endParaRPr lang="es-CO" dirty="0">
              <a:solidFill>
                <a:srgbClr val="FF0000"/>
              </a:solidFill>
              <a:latin typeface="Calibri Light (Títulos)"/>
            </a:endParaRPr>
          </a:p>
        </p:txBody>
      </p:sp>
    </p:spTree>
    <p:extLst>
      <p:ext uri="{BB962C8B-B14F-4D97-AF65-F5344CB8AC3E}">
        <p14:creationId xmlns:p14="http://schemas.microsoft.com/office/powerpoint/2010/main" val="1746995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44" b="61064"/>
          <a:stretch>
            <a:fillRect/>
          </a:stretch>
        </p:blipFill>
        <p:spPr bwMode="auto">
          <a:xfrm>
            <a:off x="14202" y="6335673"/>
            <a:ext cx="9051639" cy="522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3 CuadroTexto"/>
          <p:cNvSpPr txBox="1"/>
          <p:nvPr/>
        </p:nvSpPr>
        <p:spPr>
          <a:xfrm>
            <a:off x="1259632" y="3789040"/>
            <a:ext cx="6192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 Subcomité de Lavado de Activos, les agradece la atención prestada.</a:t>
            </a:r>
          </a:p>
          <a:p>
            <a:pPr algn="ctr"/>
            <a:r>
              <a:rPr lang="es-CO" sz="3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Feliz noche!!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2071960-163C-BC68-190C-655F784C3430}"/>
              </a:ext>
            </a:extLst>
          </p:cNvPr>
          <p:cNvGrpSpPr/>
          <p:nvPr/>
        </p:nvGrpSpPr>
        <p:grpSpPr>
          <a:xfrm>
            <a:off x="190077" y="5517232"/>
            <a:ext cx="8414371" cy="861954"/>
            <a:chOff x="190077" y="5589240"/>
            <a:chExt cx="8414371" cy="861954"/>
          </a:xfrm>
        </p:grpSpPr>
        <p:pic>
          <p:nvPicPr>
            <p:cNvPr id="17" name="Picture 2" descr="Resultado de imagen para tecnicas y procedimientos de auditoria forense">
              <a:extLst>
                <a:ext uri="{FF2B5EF4-FFF2-40B4-BE49-F238E27FC236}">
                  <a16:creationId xmlns:a16="http://schemas.microsoft.com/office/drawing/2014/main" id="{52471D51-DA9A-41E6-3871-CF41BBE261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077" y="5600118"/>
              <a:ext cx="2675460" cy="851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A0EB544A-4DB2-D89C-424B-7C774B9E6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65537" y="5600119"/>
              <a:ext cx="4048125" cy="85107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D72EFC4D-72AB-3C29-9BCD-26D1FF880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3662" y="5589240"/>
              <a:ext cx="1690786" cy="851075"/>
            </a:xfrm>
            <a:prstGeom prst="rect">
              <a:avLst/>
            </a:prstGeom>
          </p:spPr>
        </p:pic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166E5859-4E99-2A7E-4E46-46F972BC6F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3768" y="423845"/>
            <a:ext cx="3192591" cy="350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682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Evento principal">
      <a:majorFont>
        <a:latin typeface="Impac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21399</TotalTime>
  <Words>484</Words>
  <Application>Microsoft Office PowerPoint</Application>
  <PresentationFormat>Presentación en pantalla (4:3)</PresentationFormat>
  <Paragraphs>78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 (Títulos)</vt:lpstr>
      <vt:lpstr>Impact</vt:lpstr>
      <vt:lpstr>Segoe UI</vt:lpstr>
      <vt:lpstr>Wingdings</vt:lpstr>
      <vt:lpstr>Evento principal</vt:lpstr>
      <vt:lpstr>LA PRUEBA PERICIAL Y SU RELACIÓN CON EL CONTRAINTERROGATORIO.</vt:lpstr>
      <vt:lpstr>Agenda</vt:lpstr>
      <vt:lpstr>1. introducción</vt:lpstr>
      <vt:lpstr>2. BIBLIOGRAFÍA</vt:lpstr>
      <vt:lpstr>2. BIBLIOGRAFÍA</vt:lpstr>
      <vt:lpstr>3. REVISIÓN CONCEPTUAL</vt:lpstr>
      <vt:lpstr>3. REVISIÓN CONCEPTUAL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Alianzaconhuellas</dc:creator>
  <cp:lastModifiedBy>USER</cp:lastModifiedBy>
  <cp:revision>136</cp:revision>
  <dcterms:created xsi:type="dcterms:W3CDTF">2019-07-18T21:09:57Z</dcterms:created>
  <dcterms:modified xsi:type="dcterms:W3CDTF">2026-02-10T11:02:08Z</dcterms:modified>
</cp:coreProperties>
</file>